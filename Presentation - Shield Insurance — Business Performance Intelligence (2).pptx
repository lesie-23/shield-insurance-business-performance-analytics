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(MS)" panose="020B0604020202020204" charset="0"/>
      <p:regular r:id="rId13"/>
    </p:embeddedFont>
    <p:embeddedFont>
      <p:font typeface="Calibri (MS) Italics" panose="020B0604020202020204" charset="0"/>
      <p:regular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Clear Sans" panose="020B0604020202020204" charset="0"/>
      <p:regular r:id="rId17"/>
    </p:embeddedFont>
    <p:embeddedFont>
      <p:font typeface="Tenor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53026" y="857257"/>
            <a:ext cx="2092882" cy="2109675"/>
          </a:xfrm>
          <a:custGeom>
            <a:avLst/>
            <a:gdLst/>
            <a:ahLst/>
            <a:cxnLst/>
            <a:rect l="l" t="t" r="r" b="b"/>
            <a:pathLst>
              <a:path w="2092882" h="2109675">
                <a:moveTo>
                  <a:pt x="0" y="0"/>
                </a:moveTo>
                <a:lnTo>
                  <a:pt x="2092882" y="0"/>
                </a:lnTo>
                <a:lnTo>
                  <a:pt x="2092882" y="2109676"/>
                </a:lnTo>
                <a:lnTo>
                  <a:pt x="0" y="2109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" r="-3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71438" y="3954322"/>
            <a:ext cx="13804482" cy="225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75"/>
              </a:lnSpc>
            </a:pPr>
            <a:r>
              <a:rPr lang="en-US" sz="8675" spc="-173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Shield Insurance: Business Performance Analytics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299475" y="7140254"/>
            <a:ext cx="5247215" cy="1294013"/>
            <a:chOff x="0" y="0"/>
            <a:chExt cx="6996287" cy="1725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38100"/>
              <a:ext cx="6996287" cy="480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75"/>
                </a:lnSpc>
              </a:pPr>
              <a:r>
                <a:rPr lang="en-US" sz="2575" spc="-51">
                  <a:solidFill>
                    <a:srgbClr val="DCEAE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Presented by Lesie Fernandes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29075"/>
              <a:ext cx="6996287" cy="69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14703" y="5350467"/>
            <a:ext cx="6808648" cy="2287775"/>
            <a:chOff x="0" y="0"/>
            <a:chExt cx="9078198" cy="3050367"/>
          </a:xfrm>
        </p:grpSpPr>
        <p:sp>
          <p:nvSpPr>
            <p:cNvPr id="8" name="TextBox 8"/>
            <p:cNvSpPr txBox="1"/>
            <p:nvPr/>
          </p:nvSpPr>
          <p:spPr>
            <a:xfrm>
              <a:off x="0" y="161925"/>
              <a:ext cx="9078198" cy="1682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75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54091"/>
              <a:ext cx="9078198" cy="69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32013" y="0"/>
            <a:ext cx="4349824" cy="4026353"/>
          </a:xfrm>
          <a:custGeom>
            <a:avLst/>
            <a:gdLst/>
            <a:ahLst/>
            <a:cxnLst/>
            <a:rect l="l" t="t" r="r" b="b"/>
            <a:pathLst>
              <a:path w="4349824" h="4026353">
                <a:moveTo>
                  <a:pt x="0" y="0"/>
                </a:moveTo>
                <a:lnTo>
                  <a:pt x="4349824" y="0"/>
                </a:lnTo>
                <a:lnTo>
                  <a:pt x="4349824" y="4026353"/>
                </a:lnTo>
                <a:lnTo>
                  <a:pt x="0" y="4026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9150" y="1719592"/>
            <a:ext cx="832485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60"/>
              </a:lnSpc>
            </a:pPr>
            <a:r>
              <a:rPr lang="en-US" sz="6800" spc="-13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Company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9150" y="3188153"/>
            <a:ext cx="12396823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</a:pPr>
            <a:r>
              <a:rPr lang="en-US" sz="2600" spc="-52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Shield Insurance is a customer-focused general insurance provider operating across major urban markets, including </a:t>
            </a:r>
            <a:r>
              <a:rPr lang="en-US" sz="2600" i="1" spc="-52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Delhi NCR, Mumbai, Hyderabad, Chennai, and Indore.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9150" y="4331153"/>
            <a:ext cx="16239173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company sells insurance policies through four channels:</a:t>
            </a:r>
          </a:p>
          <a:p>
            <a:pPr algn="l">
              <a:lnSpc>
                <a:spcPts val="3120"/>
              </a:lnSpc>
            </a:pPr>
            <a:endParaRPr lang="en-US" sz="2600" spc="-52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120"/>
              </a:lnSpc>
            </a:pPr>
            <a:r>
              <a:rPr lang="en-US" sz="2600" spc="-52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600" spc="-52" dirty="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 - Agents</a:t>
            </a:r>
          </a:p>
          <a:p>
            <a:pPr algn="l">
              <a:lnSpc>
                <a:spcPts val="3120"/>
              </a:lnSpc>
            </a:pPr>
            <a:r>
              <a:rPr lang="en-US" sz="2600" spc="-52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600" spc="-52" dirty="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 - Direct </a:t>
            </a:r>
          </a:p>
          <a:p>
            <a:pPr algn="l">
              <a:lnSpc>
                <a:spcPts val="3120"/>
              </a:lnSpc>
            </a:pPr>
            <a:r>
              <a:rPr lang="en-US" sz="2600" spc="-52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600" spc="-52" dirty="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Online - App</a:t>
            </a:r>
          </a:p>
          <a:p>
            <a:pPr marL="0" lvl="0" indent="0" algn="l">
              <a:lnSpc>
                <a:spcPts val="3120"/>
              </a:lnSpc>
            </a:pPr>
            <a:r>
              <a:rPr lang="en-US" sz="2600" spc="-52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600" spc="-52" dirty="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Online - Website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9150" y="7036253"/>
            <a:ext cx="1481551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</a:pPr>
            <a:r>
              <a:rPr lang="en-US" sz="2600" spc="-52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This multi-channel setup allows the business to combine agent-led sales with digital distribution.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36143" y="1185550"/>
            <a:ext cx="5137769" cy="5358125"/>
          </a:xfrm>
          <a:custGeom>
            <a:avLst/>
            <a:gdLst/>
            <a:ahLst/>
            <a:cxnLst/>
            <a:rect l="l" t="t" r="r" b="b"/>
            <a:pathLst>
              <a:path w="5137769" h="5358125">
                <a:moveTo>
                  <a:pt x="0" y="0"/>
                </a:moveTo>
                <a:lnTo>
                  <a:pt x="5137770" y="0"/>
                </a:lnTo>
                <a:lnTo>
                  <a:pt x="5137770" y="5358125"/>
                </a:lnTo>
                <a:lnTo>
                  <a:pt x="0" y="5358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572952"/>
            <a:ext cx="5107363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5857" y="3247400"/>
            <a:ext cx="497661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1. Business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543" y="4218950"/>
            <a:ext cx="782393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 2. Dashboard Walkthrough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1543" y="5133975"/>
            <a:ext cx="497661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3200" spc="-64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 3.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C2E99-A8B0-A972-65D3-202B53287E34}"/>
              </a:ext>
            </a:extLst>
          </p:cNvPr>
          <p:cNvSpPr txBox="1"/>
          <p:nvPr/>
        </p:nvSpPr>
        <p:spPr>
          <a:xfrm>
            <a:off x="921542" y="6033721"/>
            <a:ext cx="497661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3200" spc="-64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 4. Recommendations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400" y="5676900"/>
            <a:ext cx="4603072" cy="4411094"/>
          </a:xfrm>
          <a:custGeom>
            <a:avLst/>
            <a:gdLst/>
            <a:ahLst/>
            <a:cxnLst/>
            <a:rect l="l" t="t" r="r" b="b"/>
            <a:pathLst>
              <a:path w="4954403" h="4944494">
                <a:moveTo>
                  <a:pt x="0" y="0"/>
                </a:moveTo>
                <a:lnTo>
                  <a:pt x="4954403" y="0"/>
                </a:lnTo>
                <a:lnTo>
                  <a:pt x="4954403" y="4944494"/>
                </a:lnTo>
                <a:lnTo>
                  <a:pt x="0" y="4944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4206" y="1729117"/>
            <a:ext cx="832485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</a:pPr>
            <a:r>
              <a:rPr lang="en-US" sz="5700" spc="-1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206" y="3105829"/>
            <a:ext cx="16193249" cy="1729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Shield Insurance did not have a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</a:rPr>
              <a:t>centralized dashboard 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to track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</a:rPr>
              <a:t> revenue performance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 across customers, sales channels, cities, age segments, and policy types in one place.</a:t>
            </a:r>
            <a:b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</a:b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 a result, management lacked clarity on what was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driving growth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and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  <a:sym typeface="Calibri (MS)"/>
              </a:rPr>
              <a:t>where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revenue was concentrated</a:t>
            </a:r>
            <a:r>
              <a:rPr lang="en-US" sz="2800" spc="-5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lvl="0">
              <a:lnSpc>
                <a:spcPts val="3360"/>
              </a:lnSpc>
            </a:pPr>
            <a:endParaRPr lang="en-US" sz="2800" spc="-56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4206" y="4804596"/>
            <a:ext cx="16193249" cy="1729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360"/>
              </a:lnSpc>
            </a:pP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The objective of this pilot project is to analyze Shield Insurance’s business performance by identifying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</a:rPr>
              <a:t>key trends 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in customer growth,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</a:rPr>
              <a:t>revenue patterns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,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</a:rPr>
              <a:t>regional performance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, and </a:t>
            </a:r>
            <a:r>
              <a:rPr lang="en-US" sz="2800" i="1" spc="-56" dirty="0">
                <a:solidFill>
                  <a:srgbClr val="FFD166"/>
                </a:solidFill>
                <a:latin typeface="Calibri (MS) Italics"/>
                <a:ea typeface="Calibri (MS) Italics"/>
                <a:cs typeface="Calibri (MS) Italics"/>
              </a:rPr>
              <a:t>age-group behavior.</a:t>
            </a:r>
            <a:b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</a:b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This analysis supports data-driven decision-making by highlighting revenue drivers, growth gaps, and improvement opportunities.</a:t>
            </a:r>
            <a:endParaRPr lang="en-US" sz="2800" spc="-56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206" y="1729117"/>
            <a:ext cx="832485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</a:pPr>
            <a:r>
              <a:rPr lang="en-US" sz="5700" spc="-114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206" y="3105829"/>
            <a:ext cx="16193249" cy="42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The business generated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₹989.25M 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in revenue from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26.84K</a:t>
            </a:r>
            <a:r>
              <a:rPr lang="en-US" sz="2800" i="1" spc="-56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customers, driven mainly by higher-premium plans.</a:t>
            </a:r>
            <a:endParaRPr lang="en-US" sz="2800" spc="-56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4205" y="3848100"/>
            <a:ext cx="16193249" cy="857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March contributed over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80% 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of customers and revenue, followed by a sharp decline in April, showing dependency on a single peak month.</a:t>
            </a:r>
            <a:endParaRPr lang="en-US" sz="2800" spc="-56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51D22A-68B2-FD27-57BA-929594A48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562801"/>
            <a:ext cx="2247900" cy="2038350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445561F4-ED48-5CF4-D176-B8A6187F6CEB}"/>
              </a:ext>
            </a:extLst>
          </p:cNvPr>
          <p:cNvSpPr txBox="1"/>
          <p:nvPr/>
        </p:nvSpPr>
        <p:spPr>
          <a:xfrm>
            <a:off x="653301" y="5017144"/>
            <a:ext cx="16193249" cy="421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Revenue is concentrated in Delhi NCR and Mumbai, making performance sensitive to these two markets.</a:t>
            </a:r>
            <a:endParaRPr lang="en-US" sz="2800" spc="-56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76E503D3-7FCC-33BA-0263-1242D7396AD8}"/>
              </a:ext>
            </a:extLst>
          </p:cNvPr>
          <p:cNvSpPr txBox="1"/>
          <p:nvPr/>
        </p:nvSpPr>
        <p:spPr>
          <a:xfrm>
            <a:off x="646690" y="5768659"/>
            <a:ext cx="16193249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Offline Agents contribute over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55% 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of total revenue, while digital channels currently account for only around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12–13%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F76322D-FC48-548C-43A6-169275483AE2}"/>
              </a:ext>
            </a:extLst>
          </p:cNvPr>
          <p:cNvSpPr txBox="1"/>
          <p:nvPr/>
        </p:nvSpPr>
        <p:spPr>
          <a:xfrm>
            <a:off x="622072" y="7011632"/>
            <a:ext cx="16193249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Around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60–65%</a:t>
            </a:r>
            <a:r>
              <a:rPr lang="en-US" sz="2800" spc="-5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 of revenue comes from the top three policies, and older customers generate higher revenue per policy despite lower volumes.</a:t>
            </a:r>
          </a:p>
        </p:txBody>
      </p:sp>
    </p:spTree>
    <p:extLst>
      <p:ext uri="{BB962C8B-B14F-4D97-AF65-F5344CB8AC3E}">
        <p14:creationId xmlns:p14="http://schemas.microsoft.com/office/powerpoint/2010/main" val="28207261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2294" y="2510351"/>
            <a:ext cx="16312943" cy="70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95" lvl="1" indent="-248297">
              <a:lnSpc>
                <a:spcPts val="2760"/>
              </a:lnSpc>
              <a:buFont typeface="Arial"/>
              <a:buChar char="•"/>
            </a:pPr>
            <a:r>
              <a:rPr lang="en-US" sz="2300" b="1" spc="-46" dirty="0">
                <a:solidFill>
                  <a:srgbClr val="DBEFE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Reduce Regional Dependency</a:t>
            </a:r>
            <a:b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</a:b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Maintain strong performance in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Delhi NCR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and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Mumbai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,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while setting growth targets for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Hyderabad, Chennai, and Indore.</a:t>
            </a:r>
            <a:endParaRPr lang="en-US" sz="2300" spc="-46" dirty="0">
              <a:solidFill>
                <a:srgbClr val="FFD166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364473" y="226289"/>
            <a:ext cx="3244047" cy="2284867"/>
          </a:xfrm>
          <a:custGeom>
            <a:avLst/>
            <a:gdLst/>
            <a:ahLst/>
            <a:cxnLst/>
            <a:rect l="l" t="t" r="r" b="b"/>
            <a:pathLst>
              <a:path w="3244047" h="2284867">
                <a:moveTo>
                  <a:pt x="0" y="0"/>
                </a:moveTo>
                <a:lnTo>
                  <a:pt x="3244048" y="0"/>
                </a:lnTo>
                <a:lnTo>
                  <a:pt x="3244048" y="2284867"/>
                </a:lnTo>
                <a:lnTo>
                  <a:pt x="0" y="2284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t="-2582" b="-3876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2294" y="1395926"/>
            <a:ext cx="1407795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5000" spc="-1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5000" spc="-100">
                <a:solidFill>
                  <a:srgbClr val="DBEFE1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7676" y="3886247"/>
            <a:ext cx="16312943" cy="70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95" lvl="1" indent="-248297">
              <a:lnSpc>
                <a:spcPts val="2760"/>
              </a:lnSpc>
              <a:buFont typeface="Arial"/>
              <a:buChar char="•"/>
            </a:pPr>
            <a:r>
              <a:rPr lang="en-US" sz="2300" b="1" spc="-46" dirty="0">
                <a:solidFill>
                  <a:srgbClr val="DBEFE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Balance Sales Channels</a:t>
            </a:r>
            <a:b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</a:b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Strengthen</a:t>
            </a:r>
            <a: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Offline-Agent</a:t>
            </a:r>
            <a: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sales , while improving the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online purchase experience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to grow digital contribution.</a:t>
            </a:r>
            <a:endParaRPr lang="en-US" sz="2300" spc="-46" dirty="0">
              <a:solidFill>
                <a:srgbClr val="DBEFE1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7675" y="5307830"/>
            <a:ext cx="16312943" cy="70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95" lvl="1" indent="-248297">
              <a:lnSpc>
                <a:spcPts val="2760"/>
              </a:lnSpc>
              <a:buFont typeface="Arial"/>
              <a:buChar char="•"/>
            </a:pPr>
            <a:r>
              <a:rPr lang="en-US" sz="2300" b="1" spc="-46" dirty="0">
                <a:solidFill>
                  <a:srgbClr val="DBEFE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 Product Portfolio</a:t>
            </a:r>
            <a:b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</a:b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Position</a:t>
            </a:r>
            <a: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POL2005HEL</a:t>
            </a:r>
            <a: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as the flagship policy </a:t>
            </a:r>
            <a: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.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Redesign</a:t>
            </a:r>
            <a: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 </a:t>
            </a:r>
            <a:r>
              <a:rPr lang="en-US" sz="2300" b="1" spc="-46" dirty="0">
                <a:solidFill>
                  <a:srgbClr val="DBEFE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low-adoption plans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like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POL4321HEL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6503" y="6699432"/>
            <a:ext cx="1631294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95" lvl="1" indent="-248297">
              <a:lnSpc>
                <a:spcPts val="2760"/>
              </a:lnSpc>
              <a:buFont typeface="Arial"/>
              <a:buChar char="•"/>
            </a:pPr>
            <a:r>
              <a:rPr lang="en-US" sz="2300" b="1" spc="-46" dirty="0">
                <a:solidFill>
                  <a:srgbClr val="DBEFE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Reduce Product Revenue Risk</a:t>
            </a:r>
            <a:b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</a:b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Increase awareness of other policies to reduce dependency on the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Top 3 products.</a:t>
            </a:r>
            <a:endParaRPr lang="en-US" sz="2300" spc="-46" dirty="0">
              <a:solidFill>
                <a:srgbClr val="FFD166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6503" y="7847470"/>
            <a:ext cx="16312943" cy="70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95" lvl="1" indent="-248297">
              <a:lnSpc>
                <a:spcPts val="2760"/>
              </a:lnSpc>
              <a:buFont typeface="Arial"/>
              <a:buChar char="•"/>
            </a:pPr>
            <a:r>
              <a:rPr lang="en-US" sz="2300" b="1" spc="-46" dirty="0">
                <a:solidFill>
                  <a:srgbClr val="DBEFE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Target High-Value Customers</a:t>
            </a:r>
            <a:b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</a:b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Focus on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31–50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for volume growth . Offer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premium plans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to </a:t>
            </a:r>
            <a:r>
              <a:rPr lang="en-US" sz="2300" spc="-46" dirty="0">
                <a:solidFill>
                  <a:srgbClr val="FFD166"/>
                </a:solidFill>
                <a:latin typeface="Calibri (MS)"/>
                <a:ea typeface="Calibri (MS)"/>
                <a:cs typeface="Calibri (MS)"/>
              </a:rPr>
              <a:t>51+</a:t>
            </a:r>
            <a:r>
              <a:rPr lang="en-US" sz="2300" b="1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 </a:t>
            </a:r>
            <a:r>
              <a:rPr lang="en-US" sz="2300" spc="-46" dirty="0">
                <a:solidFill>
                  <a:srgbClr val="DBEFE1"/>
                </a:solidFill>
                <a:latin typeface="Calibri (MS)"/>
                <a:ea typeface="Calibri (MS)"/>
                <a:cs typeface="Calibri (MS)"/>
              </a:rPr>
              <a:t>customers.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0374" y="3623827"/>
            <a:ext cx="6886575" cy="1957797"/>
            <a:chOff x="0" y="0"/>
            <a:chExt cx="9182100" cy="2610395"/>
          </a:xfrm>
        </p:grpSpPr>
        <p:sp>
          <p:nvSpPr>
            <p:cNvPr id="3" name="TextBox 3"/>
            <p:cNvSpPr txBox="1"/>
            <p:nvPr/>
          </p:nvSpPr>
          <p:spPr>
            <a:xfrm>
              <a:off x="0" y="-142875"/>
              <a:ext cx="9182100" cy="16228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219"/>
                </a:lnSpc>
                <a:spcBef>
                  <a:spcPct val="0"/>
                </a:spcBef>
              </a:pPr>
              <a:r>
                <a:rPr lang="en-US" sz="72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THANK YOU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143727"/>
              <a:ext cx="9182100" cy="466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408</Words>
  <Application>Microsoft Office PowerPoint</Application>
  <PresentationFormat>Custom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Tenor Sans</vt:lpstr>
      <vt:lpstr>Clear Sans</vt:lpstr>
      <vt:lpstr>Calibri</vt:lpstr>
      <vt:lpstr>Arial</vt:lpstr>
      <vt:lpstr>Calibri (MS) Italics</vt:lpstr>
      <vt:lpstr>Calibri (MS)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Shield Insurance — Business Performance Intelligence</dc:title>
  <dc:description>Presentation - Shield Insurance — Business Performance Intelligence</dc:description>
  <cp:lastModifiedBy>Lesie Fernandes</cp:lastModifiedBy>
  <cp:revision>11</cp:revision>
  <dcterms:created xsi:type="dcterms:W3CDTF">2006-08-16T00:00:00Z</dcterms:created>
  <dcterms:modified xsi:type="dcterms:W3CDTF">2026-01-14T06:03:39Z</dcterms:modified>
  <dc:identifier>DAG9p_ih52w</dc:identifier>
</cp:coreProperties>
</file>